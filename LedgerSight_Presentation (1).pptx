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5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726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0"/>
            <a:ext cx="0" cy="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8503920" y="0"/>
            <a:ext cx="0" cy="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8503920" y="0"/>
            <a:ext cx="0" cy="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8503920" y="0"/>
            <a:ext cx="0" cy="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9418320" y="4389120"/>
            <a:ext cx="256032" cy="82296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7" name="Shape 5"/>
          <p:cNvSpPr/>
          <p:nvPr/>
        </p:nvSpPr>
        <p:spPr>
          <a:xfrm>
            <a:off x="9802368" y="3749040"/>
            <a:ext cx="256032" cy="146304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8" name="Shape 6"/>
          <p:cNvSpPr/>
          <p:nvPr/>
        </p:nvSpPr>
        <p:spPr>
          <a:xfrm>
            <a:off x="10186416" y="4114800"/>
            <a:ext cx="256032" cy="109728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9" name="Shape 7"/>
          <p:cNvSpPr/>
          <p:nvPr/>
        </p:nvSpPr>
        <p:spPr>
          <a:xfrm>
            <a:off x="10570464" y="3108960"/>
            <a:ext cx="256032" cy="210312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10" name="Shape 8"/>
          <p:cNvSpPr/>
          <p:nvPr/>
        </p:nvSpPr>
        <p:spPr>
          <a:xfrm>
            <a:off x="10954512" y="3566160"/>
            <a:ext cx="256032" cy="164592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11" name="Shape 9"/>
          <p:cNvSpPr/>
          <p:nvPr/>
        </p:nvSpPr>
        <p:spPr>
          <a:xfrm>
            <a:off x="11338560" y="2651760"/>
            <a:ext cx="256032" cy="2560320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9418320" y="5212080"/>
            <a:ext cx="2377440" cy="0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RECONCILIATION &amp; MONTHLY CLOSING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28600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LedgerSight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822960" y="3520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Transactions to Control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Excel analytics build that reconciles revenue, payments, and delivery performance for an e-commerce marketplace — turning three raw transactional tables into a governed monthly-close dashboard.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52578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257800"/>
            <a:ext cx="713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682496" y="525780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82496" y="525780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90672" y="525780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90672" y="525780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Pivot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98848" y="5257800"/>
            <a:ext cx="530352" cy="329184"/>
          </a:xfrm>
          <a:prstGeom prst="roundRect">
            <a:avLst>
              <a:gd name="adj" fmla="val 50000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98848" y="5257800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75504" y="525780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75504" y="525780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PivotCharts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0" y="5257800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5257800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Dataset  ·  Excel-Only Build  ·  Competition Edition,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109728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Story, Eight Steps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raw transactional exports become a live monthly financial-control dashboard.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2157984"/>
            <a:ext cx="10497312" cy="0"/>
          </a:xfrm>
          <a:prstGeom prst="line">
            <a:avLst/>
          </a:prstGeom>
          <a:noFill/>
          <a:ln w="25400">
            <a:solidFill>
              <a:srgbClr val="26314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41D30"/>
          </a:solidFill>
          <a:ln w="19050">
            <a:solidFill>
              <a:srgbClr val="E06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" y="251460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48256" y="1874520"/>
            <a:ext cx="566928" cy="566928"/>
          </a:xfrm>
          <a:prstGeom prst="ellipse">
            <a:avLst/>
          </a:prstGeom>
          <a:solidFill>
            <a:srgbClr val="141D30"/>
          </a:solidFill>
          <a:ln w="19050">
            <a:solidFill>
              <a:srgbClr val="E06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48256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28216" y="251460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47872" y="1874520"/>
            <a:ext cx="566928" cy="566928"/>
          </a:xfrm>
          <a:prstGeom prst="ellipse">
            <a:avLst/>
          </a:prstGeom>
          <a:solidFill>
            <a:srgbClr val="141D30"/>
          </a:solidFill>
          <a:ln w="19050">
            <a:solidFill>
              <a:srgbClr val="E06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27832" y="251460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47488" y="1874520"/>
            <a:ext cx="566928" cy="566928"/>
          </a:xfrm>
          <a:prstGeom prst="ellipse">
            <a:avLst/>
          </a:prstGeom>
          <a:solidFill>
            <a:srgbClr val="141D30"/>
          </a:solidFill>
          <a:ln w="19050">
            <a:solidFill>
              <a:srgbClr val="E06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27448" y="251460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47104" y="1874520"/>
            <a:ext cx="566928" cy="566928"/>
          </a:xfrm>
          <a:prstGeom prst="ellipse">
            <a:avLst/>
          </a:prstGeom>
          <a:solidFill>
            <a:srgbClr val="141D30"/>
          </a:solidFill>
          <a:ln w="19050">
            <a:solidFill>
              <a:srgbClr val="E06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27064" y="251460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46720" y="1874520"/>
            <a:ext cx="566928" cy="566928"/>
          </a:xfrm>
          <a:prstGeom prst="ellipse">
            <a:avLst/>
          </a:prstGeom>
          <a:solidFill>
            <a:srgbClr val="141D30"/>
          </a:solidFill>
          <a:ln w="19050">
            <a:solidFill>
              <a:srgbClr val="E06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26680" y="251460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546336" y="1874520"/>
            <a:ext cx="566928" cy="566928"/>
          </a:xfrm>
          <a:prstGeom prst="ellipse">
            <a:avLst/>
          </a:prstGeom>
          <a:solidFill>
            <a:srgbClr val="141D30"/>
          </a:solidFill>
          <a:ln w="19050">
            <a:solidFill>
              <a:srgbClr val="E06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46336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26296" y="251460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1045952" y="1874520"/>
            <a:ext cx="566928" cy="566928"/>
          </a:xfrm>
          <a:prstGeom prst="ellipse">
            <a:avLst/>
          </a:prstGeom>
          <a:solidFill>
            <a:srgbClr val="141D30"/>
          </a:solidFill>
          <a:ln w="19050">
            <a:solidFill>
              <a:srgbClr val="2FBF9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045952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725912" y="251460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Headline Results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36118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611880"/>
            <a:ext cx="54864" cy="1554480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" y="3721608"/>
            <a:ext cx="224028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$15.74M</a:t>
            </a:r>
            <a:endParaRPr lang="en-US" sz="2500" dirty="0"/>
          </a:p>
        </p:txBody>
      </p:sp>
      <p:sp>
        <p:nvSpPr>
          <p:cNvPr id="35" name="Text 33"/>
          <p:cNvSpPr/>
          <p:nvPr/>
        </p:nvSpPr>
        <p:spPr>
          <a:xfrm>
            <a:off x="658368" y="47091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58368" y="4946904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orders · $15,744,351.79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27832" y="36118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27832" y="3611880"/>
            <a:ext cx="54864" cy="1554480"/>
          </a:xfrm>
          <a:prstGeom prst="rect">
            <a:avLst/>
          </a:prstGeom>
          <a:solidFill>
            <a:srgbClr val="2FBF9F"/>
          </a:solidFill>
          <a:ln/>
        </p:spPr>
      </p:sp>
      <p:sp>
        <p:nvSpPr>
          <p:cNvPr id="39" name="Text 37"/>
          <p:cNvSpPr/>
          <p:nvPr/>
        </p:nvSpPr>
        <p:spPr>
          <a:xfrm>
            <a:off x="3429000" y="3721608"/>
            <a:ext cx="224028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98.0%</a:t>
            </a:r>
            <a:endParaRPr lang="en-US" sz="2500" dirty="0"/>
          </a:p>
        </p:txBody>
      </p:sp>
      <p:sp>
        <p:nvSpPr>
          <p:cNvPr id="40" name="Text 38"/>
          <p:cNvSpPr/>
          <p:nvPr/>
        </p:nvSpPr>
        <p:spPr>
          <a:xfrm>
            <a:off x="3429000" y="47091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429000" y="4946904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Expected Revenue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998464" y="36118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98464" y="3611880"/>
            <a:ext cx="54864" cy="15544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4" name="Text 42"/>
          <p:cNvSpPr/>
          <p:nvPr/>
        </p:nvSpPr>
        <p:spPr>
          <a:xfrm>
            <a:off x="6199632" y="3721608"/>
            <a:ext cx="224028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101,687</a:t>
            </a:r>
            <a:endParaRPr lang="en-US" sz="2500" dirty="0"/>
          </a:p>
        </p:txBody>
      </p:sp>
      <p:sp>
        <p:nvSpPr>
          <p:cNvPr id="45" name="Text 43"/>
          <p:cNvSpPr/>
          <p:nvPr/>
        </p:nvSpPr>
        <p:spPr>
          <a:xfrm>
            <a:off x="6199632" y="47091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199632" y="4946904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in the master table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769096" y="36118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69096" y="3611880"/>
            <a:ext cx="54864" cy="1554480"/>
          </a:xfrm>
          <a:prstGeom prst="rect">
            <a:avLst/>
          </a:prstGeom>
          <a:solidFill>
            <a:srgbClr val="E5566B"/>
          </a:solidFill>
          <a:ln/>
        </p:spPr>
      </p:sp>
      <p:sp>
        <p:nvSpPr>
          <p:cNvPr id="49" name="Text 47"/>
          <p:cNvSpPr/>
          <p:nvPr/>
        </p:nvSpPr>
        <p:spPr>
          <a:xfrm>
            <a:off x="8970264" y="3721608"/>
            <a:ext cx="224028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7,981</a:t>
            </a:r>
            <a:endParaRPr lang="en-US" sz="2500" dirty="0"/>
          </a:p>
        </p:txBody>
      </p:sp>
      <p:sp>
        <p:nvSpPr>
          <p:cNvPr id="50" name="Text 48"/>
          <p:cNvSpPr/>
          <p:nvPr/>
        </p:nvSpPr>
        <p:spPr>
          <a:xfrm>
            <a:off x="8970264" y="47091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970264" y="4946904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delay 9.6 days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57200" y="54406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reconciles what the business earned against what it expected to earn, tracks payment accuracy across four payment types, and flags delivery-performance risk — refreshed from three linked source tables with a single click.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57200" y="6510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LedgerSight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7729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109728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Source Tables, One Key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3611880" cy="54864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0759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olist_orders_dataset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74650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101,687 rows (master)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2313432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· customer_id · order_status · order_purchase_timestamp · order_approved_at · order_delivered_carrier_date · order_delivered_customer_date · order_estimated_delivery_date · Month_Year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of the model — every order's lifecycle dates and status. All calculated columns and DAX measures are built on top of this table after the merge.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51960" y="114300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143000"/>
            <a:ext cx="3611880" cy="54864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130759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olist_order_items_dataset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34840" y="174650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98,666 rows (aggregated)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34840" y="210312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34840" y="2313432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· total_price (Σ price) · total_freight (Σ freight_value) · item_count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34840" y="31546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order_id in Power Query before joining, so each order carries one row of item value instead of one row per line item.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46720" y="114300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1143000"/>
            <a:ext cx="3611880" cy="54864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130759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olist_order_payments_dataset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0" y="174650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101,683 rows (aggregated)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0" y="210312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0" y="2313432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· payment_type · total_payment (Σ payment_value)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31546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order_id to sum multi-installment payments, then merged in to compare what was actually paid against what was expected.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114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Connect (joined on order_id)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4343400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182238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3434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(master)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194560" y="4732020"/>
            <a:ext cx="685800" cy="0"/>
          </a:xfrm>
          <a:prstGeom prst="line">
            <a:avLst/>
          </a:prstGeom>
          <a:noFill/>
          <a:ln w="19050">
            <a:solidFill>
              <a:srgbClr val="E0692B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920240" y="406908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Outer Join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880360" y="4343400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182238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80360" y="43434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(aggregated)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17720" y="4732020"/>
            <a:ext cx="685800" cy="0"/>
          </a:xfrm>
          <a:prstGeom prst="line">
            <a:avLst/>
          </a:prstGeom>
          <a:noFill/>
          <a:ln w="19050">
            <a:solidFill>
              <a:srgbClr val="E0692B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4343400" y="406908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Outer Join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303520" y="4343400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182238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0" y="43434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(aggregated)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194560" y="5504688"/>
            <a:ext cx="2423160" cy="0"/>
          </a:xfrm>
          <a:prstGeom prst="line">
            <a:avLst/>
          </a:prstGeom>
          <a:noFill/>
          <a:ln/>
        </p:spPr>
      </p:sp>
      <p:sp>
        <p:nvSpPr>
          <p:cNvPr id="38" name="Shape 36"/>
          <p:cNvSpPr/>
          <p:nvPr/>
        </p:nvSpPr>
        <p:spPr>
          <a:xfrm>
            <a:off x="8823960" y="4206240"/>
            <a:ext cx="2377440" cy="1051560"/>
          </a:xfrm>
          <a:prstGeom prst="roundRect">
            <a:avLst>
              <a:gd name="adj" fmla="val 6087"/>
            </a:avLst>
          </a:prstGeom>
          <a:solidFill>
            <a:srgbClr val="141D30"/>
          </a:solidFill>
          <a:ln w="19050">
            <a:solidFill>
              <a:srgbClr val="E06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23960" y="42062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Table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101,687 rows · 20 cols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040880" y="4732020"/>
            <a:ext cx="1783080" cy="0"/>
          </a:xfrm>
          <a:prstGeom prst="line">
            <a:avLst/>
          </a:prstGeom>
          <a:noFill/>
          <a:ln w="19050">
            <a:solidFill>
              <a:srgbClr val="E0692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823960" y="5440680"/>
            <a:ext cx="2377440" cy="457200"/>
          </a:xfrm>
          <a:prstGeom prst="roundRect">
            <a:avLst>
              <a:gd name="adj" fmla="val 14000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23960" y="5440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DateTable joined on Month_Year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57200" y="6510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LedgerSight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729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109728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in Power Query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Import Problems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1874520"/>
          </a:xfrm>
          <a:prstGeom prst="roundRect">
            <a:avLst>
              <a:gd name="adj" fmla="val 3415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72768"/>
            <a:ext cx="4709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date columns loaded as text, not Date/Time (purchase, approved, carrier, delivered, estimated)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table contained invalid "not_defined" payment_type rows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tables created a duplicate Payment_Type.1 column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table had one row per line item, not one row per order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06440" y="1097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Actions Applied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06440" y="1417320"/>
            <a:ext cx="5925312" cy="1874520"/>
          </a:xfrm>
          <a:prstGeom prst="roundRect">
            <a:avLst>
              <a:gd name="adj" fmla="val 3415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572768"/>
            <a:ext cx="54864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Type step applied to all 5 date columns → Date/Time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Rows step removes not_defined payment records before grouping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Columns step drops the duplicate Payment_Type.1 after the merge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Rows (Group By order_id) collapses items to one row per order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the Applied Steps Panel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760720" cy="2514600"/>
          </a:xfrm>
          <a:prstGeom prst="roundRect">
            <a:avLst>
              <a:gd name="adj" fmla="val 2182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3" name="Image 0" descr="crops/pq_paymen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3931920"/>
            <a:ext cx="5577840" cy="23317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6382512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query — Filtered Rows → Grouped Rows → Removed Columns (Payment_Type.1)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355080" y="3840480"/>
            <a:ext cx="5376672" cy="2514600"/>
          </a:xfrm>
          <a:prstGeom prst="roundRect">
            <a:avLst>
              <a:gd name="adj" fmla="val 2182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6" name="Image 1" descr="/mnt/user-data/uploads/Screenshot_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46520" y="3931920"/>
            <a:ext cx="5193792" cy="23317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355080" y="63825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query — Changed Type steps precede the merges that build the master table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57200" y="6510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LedgerSight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729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109728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 Workflow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aggregation on both satellite tables, then a Left Outer Join into Orders — twice.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349240" cy="2788920"/>
          </a:xfrm>
          <a:prstGeom prst="roundRect">
            <a:avLst>
              <a:gd name="adj" fmla="val 1967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crops/pq_item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08760"/>
            <a:ext cx="5166360" cy="2606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206240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grouped by order_id → SUM(price), SUM(freight_value), COUNT rows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43600" y="1417320"/>
            <a:ext cx="5788152" cy="2788920"/>
          </a:xfrm>
          <a:prstGeom prst="roundRect">
            <a:avLst>
              <a:gd name="adj" fmla="val 1967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0" name="Image 1" descr="crops/pq_mer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35040" y="1508760"/>
            <a:ext cx="5605272" cy="2606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0" y="4206240"/>
            <a:ext cx="5788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after both merges — 14+ columns, order-level items &amp; payment_type expanded in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57200" y="4617720"/>
            <a:ext cx="2681478" cy="1371600"/>
          </a:xfrm>
          <a:prstGeom prst="roundRect">
            <a:avLst>
              <a:gd name="adj" fmla="val 4667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94360" y="4754880"/>
            <a:ext cx="365760" cy="365760"/>
          </a:xfrm>
          <a:prstGeom prst="ellipse">
            <a:avLst/>
          </a:prstGeom>
          <a:solidFill>
            <a:srgbClr val="141D30"/>
          </a:solidFill>
          <a:ln w="19050">
            <a:solidFill>
              <a:srgbClr val="E0692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94360" y="5184648"/>
            <a:ext cx="2407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94360" y="5458968"/>
            <a:ext cx="24071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→ sum price/freight, count rows  ·  Payments → sum payment_value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321558" y="4617720"/>
            <a:ext cx="2681478" cy="1371600"/>
          </a:xfrm>
          <a:prstGeom prst="roundRect">
            <a:avLst>
              <a:gd name="adj" fmla="val 4667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458718" y="4754880"/>
            <a:ext cx="365760" cy="365760"/>
          </a:xfrm>
          <a:prstGeom prst="ellipse">
            <a:avLst/>
          </a:prstGeom>
          <a:solidFill>
            <a:srgbClr val="141D30"/>
          </a:solidFill>
          <a:ln w="19050">
            <a:solidFill>
              <a:srgbClr val="E0692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458718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458718" y="5184648"/>
            <a:ext cx="2407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Queries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3458718" y="5458968"/>
            <a:ext cx="24071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(Orders) ↔ order_id (aggregated Items) — Join Kind: Left Outer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6185916" y="4617720"/>
            <a:ext cx="2681478" cy="1371600"/>
          </a:xfrm>
          <a:prstGeom prst="roundRect">
            <a:avLst>
              <a:gd name="adj" fmla="val 4667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323076" y="4754880"/>
            <a:ext cx="365760" cy="365760"/>
          </a:xfrm>
          <a:prstGeom prst="ellipse">
            <a:avLst/>
          </a:prstGeom>
          <a:solidFill>
            <a:srgbClr val="141D30"/>
          </a:solidFill>
          <a:ln w="19050">
            <a:solidFill>
              <a:srgbClr val="E0692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323076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323076" y="5184648"/>
            <a:ext cx="2407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Columns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6323076" y="5458968"/>
            <a:ext cx="24071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total_price, total_freight, item_count pulled into Orders, prefix removed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9050274" y="4617720"/>
            <a:ext cx="2681478" cy="1371600"/>
          </a:xfrm>
          <a:prstGeom prst="roundRect">
            <a:avLst>
              <a:gd name="adj" fmla="val 4667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9187434" y="4754880"/>
            <a:ext cx="365760" cy="365760"/>
          </a:xfrm>
          <a:prstGeom prst="ellipse">
            <a:avLst/>
          </a:prstGeom>
          <a:solidFill>
            <a:srgbClr val="141D30"/>
          </a:solidFill>
          <a:ln w="19050">
            <a:solidFill>
              <a:srgbClr val="E0692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187434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9187434" y="5184648"/>
            <a:ext cx="2407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+ Expand #2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9187434" y="5458968"/>
            <a:ext cx="24071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with aggregated Payments → adds payment_type, total_payment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457200" y="61081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Row-count check: 98,666 items rows + 101,683 payment rows merge into Orders without inflating it — the master table holds steady at 101,687 rows.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457200" y="6510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LedgerSight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27729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109728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Tables to a Master Table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TABLES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TABLES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MASTER TABLE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459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(dates, status)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94560" y="16459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6459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(price/freight)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71800" y="2377440"/>
            <a:ext cx="0" cy="1005840"/>
          </a:xfrm>
          <a:prstGeom prst="line">
            <a:avLst/>
          </a:prstGeom>
          <a:noFill/>
          <a:ln w="15875">
            <a:solidFill>
              <a:srgbClr val="26314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31920" y="16459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16459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Payments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(payment_value)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2377440"/>
            <a:ext cx="0" cy="1005840"/>
          </a:xfrm>
          <a:prstGeom prst="line">
            <a:avLst/>
          </a:prstGeom>
          <a:noFill/>
          <a:ln w="15875">
            <a:solidFill>
              <a:srgbClr val="26314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" y="301752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182238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" y="30175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grouped by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→ 98,666 rows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94560" y="301752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182238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30175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grouped by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→ 101,683 rows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03120" y="3749040"/>
            <a:ext cx="0" cy="1005840"/>
          </a:xfrm>
          <a:prstGeom prst="line">
            <a:avLst/>
          </a:prstGeom>
          <a:noFill/>
          <a:ln w="19050">
            <a:solidFill>
              <a:srgbClr val="E0692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4389120"/>
            <a:ext cx="4892040" cy="868680"/>
          </a:xfrm>
          <a:prstGeom prst="roundRect">
            <a:avLst>
              <a:gd name="adj" fmla="val 7368"/>
            </a:avLst>
          </a:prstGeom>
          <a:solidFill>
            <a:srgbClr val="141D30"/>
          </a:solidFill>
          <a:ln w="22225">
            <a:solidFill>
              <a:srgbClr val="E06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38912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MasterTable — 101,687 rows, 20 columns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+ Items + Payments, one row per order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77840" y="1371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DIMENSION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77840" y="1645920"/>
            <a:ext cx="6153912" cy="2788920"/>
          </a:xfrm>
          <a:prstGeom prst="roundRect">
            <a:avLst>
              <a:gd name="adj" fmla="val 1967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5" name="Image 0" descr="crops/pq_datetab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0" y="1737360"/>
            <a:ext cx="5971032" cy="2606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577840" y="4526280"/>
            <a:ext cx="6153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DateTable (791 dates, Year / Month / Month Name / Year-Month) is built independently in Power Query and marked as the Date Table in Power Pivot — required for DAX time-intelligence like MoM Growth %.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577840" y="5257800"/>
            <a:ext cx="6153912" cy="914400"/>
          </a:xfrm>
          <a:prstGeom prst="roundRect">
            <a:avLst>
              <a:gd name="adj" fmla="val 7000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60720" y="534924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structure?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760720" y="5577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Aggregating before joining keeps the merge at order-level grain — one row per order — so every downstream DAX measure and PivotTable counts orders correctly instead of double-counting line items or installments.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57200" y="6510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LedgerSight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729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109728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TABLE LAYER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Calculated Columns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helper columns added to the master table — computed once per row, ready for every DAX measure that follows.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657600" cy="1508760"/>
          </a:xfrm>
          <a:prstGeom prst="roundRect">
            <a:avLst>
              <a:gd name="adj" fmla="val 4242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54480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6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Total_Order_Value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" y="1847088"/>
            <a:ext cx="3364992" cy="566928"/>
          </a:xfrm>
          <a:prstGeom prst="roundRect">
            <a:avLst>
              <a:gd name="adj" fmla="val 6452"/>
            </a:avLst>
          </a:prstGeom>
          <a:solidFill>
            <a:srgbClr val="0A1120"/>
          </a:solidFill>
          <a:ln w="9525">
            <a:solidFill>
              <a:srgbClr val="2631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883664"/>
            <a:ext cx="321868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7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=[@total_price]+[@total_freight]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603504" y="2450592"/>
            <a:ext cx="3364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3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order value including shipping — the basis for revenue measures.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4261104" y="1463040"/>
            <a:ext cx="3657600" cy="1508760"/>
          </a:xfrm>
          <a:prstGeom prst="roundRect">
            <a:avLst>
              <a:gd name="adj" fmla="val 4242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7408" y="1554480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6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Net_Profit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07408" y="1847088"/>
            <a:ext cx="3364992" cy="566928"/>
          </a:xfrm>
          <a:prstGeom prst="roundRect">
            <a:avLst>
              <a:gd name="adj" fmla="val 6452"/>
            </a:avLst>
          </a:prstGeom>
          <a:solidFill>
            <a:srgbClr val="0A1120"/>
          </a:solidFill>
          <a:ln w="9525">
            <a:solidFill>
              <a:srgbClr val="2631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883664"/>
            <a:ext cx="321868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7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=[@total_price]-[@total_freight]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4407408" y="2450592"/>
            <a:ext cx="3364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3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value net of freight cost — feeds the profitability analysis.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8065008" y="1463040"/>
            <a:ext cx="3657600" cy="1508760"/>
          </a:xfrm>
          <a:prstGeom prst="roundRect">
            <a:avLst>
              <a:gd name="adj" fmla="val 4242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1554480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6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Gross_Margin_Pct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11312" y="1847088"/>
            <a:ext cx="3364992" cy="566928"/>
          </a:xfrm>
          <a:prstGeom prst="roundRect">
            <a:avLst>
              <a:gd name="adj" fmla="val 6452"/>
            </a:avLst>
          </a:prstGeom>
          <a:solidFill>
            <a:srgbClr val="0A1120"/>
          </a:solidFill>
          <a:ln w="9525">
            <a:solidFill>
              <a:srgbClr val="2631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84464" y="1883664"/>
            <a:ext cx="321868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7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=IF([@Total_Order_Value]=0,0,</a:t>
            </a:r>
            <a:endParaRPr lang="en-US" sz="770" dirty="0"/>
          </a:p>
          <a:p>
            <a:pPr marL="0" indent="0">
              <a:buNone/>
            </a:pPr>
            <a:r>
              <a:rPr lang="en-US" sz="77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[@Net_Profit]/[@Total_Order_Value]*100)</a:t>
            </a:r>
            <a:endParaRPr lang="en-US" sz="770" dirty="0"/>
          </a:p>
        </p:txBody>
      </p:sp>
      <p:sp>
        <p:nvSpPr>
          <p:cNvPr id="20" name="Text 18"/>
          <p:cNvSpPr/>
          <p:nvPr/>
        </p:nvSpPr>
        <p:spPr>
          <a:xfrm>
            <a:off x="8211312" y="2450592"/>
            <a:ext cx="3364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3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as a percentage of order value, guarded against divide-by-zero.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457200" y="3118104"/>
            <a:ext cx="3657600" cy="1508760"/>
          </a:xfrm>
          <a:prstGeom prst="roundRect">
            <a:avLst>
              <a:gd name="adj" fmla="val 4242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3209544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6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is_late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" y="3502152"/>
            <a:ext cx="3364992" cy="566928"/>
          </a:xfrm>
          <a:prstGeom prst="roundRect">
            <a:avLst>
              <a:gd name="adj" fmla="val 6452"/>
            </a:avLst>
          </a:prstGeom>
          <a:solidFill>
            <a:srgbClr val="0A1120"/>
          </a:solidFill>
          <a:ln w="9525">
            <a:solidFill>
              <a:srgbClr val="2631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3538728"/>
            <a:ext cx="321868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7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=IF([@order_delivered_customer_date]="",FALSE,</a:t>
            </a:r>
            <a:endParaRPr lang="en-US" sz="770" dirty="0"/>
          </a:p>
          <a:p>
            <a:pPr marL="0" indent="0">
              <a:buNone/>
            </a:pPr>
            <a:r>
              <a:rPr lang="en-US" sz="77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[@order_delivered_customer_date]&gt;</a:t>
            </a:r>
            <a:endParaRPr lang="en-US" sz="770" dirty="0"/>
          </a:p>
          <a:p>
            <a:pPr marL="0" indent="0">
              <a:buNone/>
            </a:pPr>
            <a:r>
              <a:rPr lang="en-US" sz="77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[@order_estimated_delivery_date])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603504" y="4105656"/>
            <a:ext cx="3364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3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 flag used to isolate late deliveries in every delivery KPI.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4261104" y="3118104"/>
            <a:ext cx="3657600" cy="1508760"/>
          </a:xfrm>
          <a:prstGeom prst="roundRect">
            <a:avLst>
              <a:gd name="adj" fmla="val 4242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07408" y="3209544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6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Delay_Days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07408" y="3502152"/>
            <a:ext cx="3364992" cy="566928"/>
          </a:xfrm>
          <a:prstGeom prst="roundRect">
            <a:avLst>
              <a:gd name="adj" fmla="val 6452"/>
            </a:avLst>
          </a:prstGeom>
          <a:solidFill>
            <a:srgbClr val="0A1120"/>
          </a:solidFill>
          <a:ln w="9525">
            <a:solidFill>
              <a:srgbClr val="2631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3538728"/>
            <a:ext cx="321868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7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=IF([@order_delivered_customer_date]="",0,</a:t>
            </a:r>
            <a:endParaRPr lang="en-US" sz="770" dirty="0"/>
          </a:p>
          <a:p>
            <a:pPr marL="0" indent="0">
              <a:buNone/>
            </a:pPr>
            <a:r>
              <a:rPr lang="en-US" sz="77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[@order_delivered_customer_date]-</a:t>
            </a:r>
            <a:endParaRPr lang="en-US" sz="770" dirty="0"/>
          </a:p>
          <a:p>
            <a:pPr marL="0" indent="0">
              <a:buNone/>
            </a:pPr>
            <a:r>
              <a:rPr lang="en-US" sz="77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[@order_estimated_delivery_date])</a:t>
            </a:r>
            <a:endParaRPr lang="en-US" sz="770" dirty="0"/>
          </a:p>
        </p:txBody>
      </p:sp>
      <p:sp>
        <p:nvSpPr>
          <p:cNvPr id="30" name="Text 28"/>
          <p:cNvSpPr/>
          <p:nvPr/>
        </p:nvSpPr>
        <p:spPr>
          <a:xfrm>
            <a:off x="4407408" y="4105656"/>
            <a:ext cx="3364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3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late (or early) — averaged to produce Avg Delay Days.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8065008" y="3118104"/>
            <a:ext cx="3657600" cy="1508760"/>
          </a:xfrm>
          <a:prstGeom prst="roundRect">
            <a:avLst>
              <a:gd name="adj" fmla="val 4242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11312" y="3209544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6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Payment_Diff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11312" y="3502152"/>
            <a:ext cx="3364992" cy="566928"/>
          </a:xfrm>
          <a:prstGeom prst="roundRect">
            <a:avLst>
              <a:gd name="adj" fmla="val 6452"/>
            </a:avLst>
          </a:prstGeom>
          <a:solidFill>
            <a:srgbClr val="0A1120"/>
          </a:solidFill>
          <a:ln w="9525">
            <a:solidFill>
              <a:srgbClr val="2631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84464" y="3538728"/>
            <a:ext cx="321868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7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=[@total_payment]-[@Total_Order_Value]</a:t>
            </a:r>
            <a:endParaRPr lang="en-US" sz="770" dirty="0"/>
          </a:p>
        </p:txBody>
      </p:sp>
      <p:sp>
        <p:nvSpPr>
          <p:cNvPr id="35" name="Text 33"/>
          <p:cNvSpPr/>
          <p:nvPr/>
        </p:nvSpPr>
        <p:spPr>
          <a:xfrm>
            <a:off x="8211312" y="4105656"/>
            <a:ext cx="3364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3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what was paid and what the order was worth — payment control.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LedgerSight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109728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Pivot + DAX Measures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Hero Measure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384048"/>
          </a:xfrm>
          <a:prstGeom prst="roundRect">
            <a:avLst>
              <a:gd name="adj" fmla="val 14286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6304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Reconciliation 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08960" y="1847088"/>
            <a:ext cx="0" cy="118872"/>
          </a:xfrm>
          <a:prstGeom prst="line">
            <a:avLst/>
          </a:prstGeom>
          <a:noFill/>
          <a:ln w="19050">
            <a:solidFill>
              <a:srgbClr val="E0692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196596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0A112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57400"/>
            <a:ext cx="50657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Reconciliation % :=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DIVIDE(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[Total Revenue],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[Expected Revenue], 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* 100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3154680"/>
            <a:ext cx="0" cy="137160"/>
          </a:xfrm>
          <a:prstGeom prst="line">
            <a:avLst/>
          </a:prstGeom>
          <a:noFill/>
          <a:ln w="19050">
            <a:solidFill>
              <a:srgbClr val="E0692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3246120"/>
            <a:ext cx="5394960" cy="384048"/>
          </a:xfrm>
          <a:prstGeom prst="roundRect">
            <a:avLst>
              <a:gd name="adj" fmla="val 14286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4612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Expected Revenue actually landed as Total Revenue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0" y="3630168"/>
            <a:ext cx="0" cy="118872"/>
          </a:xfrm>
          <a:prstGeom prst="line">
            <a:avLst/>
          </a:prstGeom>
          <a:noFill/>
          <a:ln w="19050">
            <a:solidFill>
              <a:srgbClr val="E0692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3749040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141D30"/>
          </a:solidFill>
          <a:ln w="19050">
            <a:solidFill>
              <a:srgbClr val="2FBF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490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as the hero KPI card — 98.0% — bordered in orange and shown as a line on the revenue chart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63640" y="1097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Measures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1463040"/>
            <a:ext cx="5468112" cy="841248"/>
          </a:xfrm>
          <a:prstGeom prst="roundRect">
            <a:avLst>
              <a:gd name="adj" fmla="val 6522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53619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1517904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$15,744,351.79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1810512"/>
            <a:ext cx="519379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FB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CALCULATE(SUM(Total_Order_Value), order_status="delivered")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63640" y="2395728"/>
            <a:ext cx="5468112" cy="841248"/>
          </a:xfrm>
          <a:prstGeom prst="roundRect">
            <a:avLst>
              <a:gd name="adj" fmla="val 6522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46888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Revenue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450592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$16,064,567.48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2743200"/>
            <a:ext cx="519379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FB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CALCULATE(SUM(Total_Order_Value), order_status IN {delivered, shipped, invoiced, processing, approved})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63640" y="3328416"/>
            <a:ext cx="5468112" cy="841248"/>
          </a:xfrm>
          <a:prstGeom prst="roundRect">
            <a:avLst>
              <a:gd name="adj" fmla="val 6522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40156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Payments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3383280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$16,008,872.12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3675888"/>
            <a:ext cx="519379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FB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SUM(MasterTable[total_payment])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263640" y="4261104"/>
            <a:ext cx="5468112" cy="841248"/>
          </a:xfrm>
          <a:prstGeom prst="roundRect">
            <a:avLst>
              <a:gd name="adj" fmla="val 6522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33425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 Deliveries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4315968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7,981 orders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4608576"/>
            <a:ext cx="519379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FB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CALCULATE(COUNTROWS(MasterTable), is_late=TRUE, order_status="delivered")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263640" y="5193792"/>
            <a:ext cx="5468112" cy="841248"/>
          </a:xfrm>
          <a:prstGeom prst="roundRect">
            <a:avLst>
              <a:gd name="adj" fmla="val 6522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52669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Delay Days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5248656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 days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5541264"/>
            <a:ext cx="519379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FB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CALCULATE(AVERAGE(Delay_Days), is_late=TRUE, Delay_Days&gt;0)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6510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LedgerSight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109728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LAYER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That Run the Business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54864" cy="1417320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344168"/>
            <a:ext cx="2331720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$15.74M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58368" y="2194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43230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orders · $15,744,351.79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234440"/>
            <a:ext cx="54864" cy="141732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3493008" y="1344168"/>
            <a:ext cx="2331720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$16.06M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493008" y="2194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REVENUE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93008" y="243230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Approved-type orders · $16,064,567.48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234440"/>
            <a:ext cx="54864" cy="1417320"/>
          </a:xfrm>
          <a:prstGeom prst="rect">
            <a:avLst/>
          </a:prstGeom>
          <a:solidFill>
            <a:srgbClr val="2FBF9F"/>
          </a:solidFill>
          <a:ln/>
        </p:spPr>
      </p:sp>
      <p:sp>
        <p:nvSpPr>
          <p:cNvPr id="17" name="Text 15"/>
          <p:cNvSpPr/>
          <p:nvPr/>
        </p:nvSpPr>
        <p:spPr>
          <a:xfrm>
            <a:off x="6327648" y="1344168"/>
            <a:ext cx="2331720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98.0%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6327648" y="2194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RECONCILIATION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27648" y="243230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Expected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961120" y="123444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1234440"/>
            <a:ext cx="54864" cy="141732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2" name="Text 20"/>
          <p:cNvSpPr/>
          <p:nvPr/>
        </p:nvSpPr>
        <p:spPr>
          <a:xfrm>
            <a:off x="9162288" y="1344168"/>
            <a:ext cx="2331720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$16.01M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9162288" y="2194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PAYMENTS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62288" y="243230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$16,008,872.12 received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7889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788920"/>
            <a:ext cx="54864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2898648"/>
            <a:ext cx="2331720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101,687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658368" y="37490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8368" y="398678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master table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91840" y="27889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2788920"/>
            <a:ext cx="54864" cy="1417320"/>
          </a:xfrm>
          <a:prstGeom prst="rect">
            <a:avLst/>
          </a:prstGeom>
          <a:solidFill>
            <a:srgbClr val="E5566B"/>
          </a:solidFill>
          <a:ln/>
        </p:spPr>
      </p:sp>
      <p:sp>
        <p:nvSpPr>
          <p:cNvPr id="32" name="Text 30"/>
          <p:cNvSpPr/>
          <p:nvPr/>
        </p:nvSpPr>
        <p:spPr>
          <a:xfrm>
            <a:off x="3493008" y="2898648"/>
            <a:ext cx="2331720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643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3493008" y="37490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CANCELED ORDERS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493008" y="398678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0.6% of total orders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26480" y="27889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0" y="2788920"/>
            <a:ext cx="54864" cy="1417320"/>
          </a:xfrm>
          <a:prstGeom prst="rect">
            <a:avLst/>
          </a:prstGeom>
          <a:solidFill>
            <a:srgbClr val="E5566B"/>
          </a:solidFill>
          <a:ln/>
        </p:spPr>
      </p:sp>
      <p:sp>
        <p:nvSpPr>
          <p:cNvPr id="37" name="Text 35"/>
          <p:cNvSpPr/>
          <p:nvPr/>
        </p:nvSpPr>
        <p:spPr>
          <a:xfrm>
            <a:off x="6327648" y="2898648"/>
            <a:ext cx="2331720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7,981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6327648" y="37490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27648" y="398678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 of delivered orders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961120" y="27889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61120" y="2788920"/>
            <a:ext cx="54864" cy="1417320"/>
          </a:xfrm>
          <a:prstGeom prst="rect">
            <a:avLst/>
          </a:prstGeom>
          <a:solidFill>
            <a:srgbClr val="E5566B"/>
          </a:solidFill>
          <a:ln/>
        </p:spPr>
      </p:sp>
      <p:sp>
        <p:nvSpPr>
          <p:cNvPr id="42" name="Text 40"/>
          <p:cNvSpPr/>
          <p:nvPr/>
        </p:nvSpPr>
        <p:spPr>
          <a:xfrm>
            <a:off x="9162288" y="2898648"/>
            <a:ext cx="2331720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9.6 days</a:t>
            </a:r>
            <a:endParaRPr lang="en-US" sz="2500" dirty="0"/>
          </a:p>
        </p:txBody>
      </p:sp>
      <p:sp>
        <p:nvSpPr>
          <p:cNvPr id="43" name="Text 41"/>
          <p:cNvSpPr/>
          <p:nvPr/>
        </p:nvSpPr>
        <p:spPr>
          <a:xfrm>
            <a:off x="9162288" y="37490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 DAYS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162288" y="398678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across late orders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" y="4434840"/>
            <a:ext cx="11274552" cy="1051560"/>
          </a:xfrm>
          <a:prstGeom prst="roundRect">
            <a:avLst>
              <a:gd name="adj" fmla="val 5217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46" name="Image 0" descr="/mnt/user-data/uploads/Screenshot_1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4526280"/>
            <a:ext cx="11091672" cy="86868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457200" y="553212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the four primary KPI cards as they render live on the LedgerSight dashboard sheet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457200" y="6510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LedgerSight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127729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109728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DELIVERABLE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Reconciliation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41D30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$16,064,567.48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REVENUE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40480" y="1920240"/>
            <a:ext cx="320040" cy="0"/>
          </a:xfrm>
          <a:prstGeom prst="line">
            <a:avLst/>
          </a:prstGeom>
          <a:noFill/>
          <a:ln w="19050">
            <a:solidFill>
              <a:srgbClr val="6E7E97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383280" y="96012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60520" y="12344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41D30"/>
          </a:solidFill>
          <a:ln w="19050">
            <a:solidFill>
              <a:srgbClr val="E06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14173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$15,744,351.79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16052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(ACTUAL)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43800" y="1920240"/>
            <a:ext cx="320040" cy="0"/>
          </a:xfrm>
          <a:prstGeom prst="line">
            <a:avLst/>
          </a:prstGeom>
          <a:noFill/>
          <a:ln w="19050">
            <a:solidFill>
              <a:srgbClr val="6E7E97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086600" y="96012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63840" y="12344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41D30"/>
          </a:solidFill>
          <a:ln w="19050">
            <a:solidFill>
              <a:srgbClr val="E556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14173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$320,215.69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86384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UNRECONCILED GAP (2.0%)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27889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Reconciliation % := DIVIDE(Total Revenue, Expected Revenue, 0) × 100  →  98.0%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6675120" cy="2514600"/>
          </a:xfrm>
          <a:prstGeom prst="roundRect">
            <a:avLst>
              <a:gd name="adj" fmla="val 2182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0" name="Image 0" descr="/mnt/user-data/uploads/Screenshot_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3337560"/>
            <a:ext cx="6492240" cy="23317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5779008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Expected Revenue and % Reconciliation — full 2016-09 to 2018-08 window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360920" y="3246120"/>
            <a:ext cx="4370832" cy="2514600"/>
          </a:xfrm>
          <a:prstGeom prst="roundRect">
            <a:avLst>
              <a:gd name="adj" fmla="val 2909"/>
            </a:avLst>
          </a:prstGeom>
          <a:solidFill>
            <a:srgbClr val="141D30"/>
          </a:solidFill>
          <a:ln w="15875">
            <a:solidFill>
              <a:srgbClr val="E069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89520" y="34015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Gap Means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589520" y="37490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held ~98% for nearly the entire two-year window. The dip to 51.3% and 90.7% appears only in Sep-Oct 2016 — the marketplace's launch window with very low order volume, not a genuine performance issue in the steady state.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589520" y="47548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2.0% gap ($320K) is the difference between orders that reached "delivered" and the broader set of approved-type orders still in the fulfilment pipeline at any given month.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6510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LedgerSight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729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109728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Performance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234440"/>
          </a:xfrm>
          <a:prstGeom prst="rect">
            <a:avLst/>
          </a:prstGeom>
          <a:solidFill>
            <a:srgbClr val="E5566B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298448"/>
            <a:ext cx="324612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7,981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58368" y="19659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20370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 of 98,660 delivered orders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51960" y="118872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1188720"/>
            <a:ext cx="54864" cy="1234440"/>
          </a:xfrm>
          <a:prstGeom prst="rect">
            <a:avLst/>
          </a:prstGeom>
          <a:solidFill>
            <a:srgbClr val="E5566B"/>
          </a:solidFill>
          <a:ln/>
        </p:spPr>
      </p:sp>
      <p:sp>
        <p:nvSpPr>
          <p:cNvPr id="12" name="Text 10"/>
          <p:cNvSpPr/>
          <p:nvPr/>
        </p:nvSpPr>
        <p:spPr>
          <a:xfrm>
            <a:off x="4453128" y="1298448"/>
            <a:ext cx="324612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9.6 days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453128" y="19659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 (GRAND TOTAL)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53128" y="220370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across all late orders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046720" y="118872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188720"/>
            <a:ext cx="54864" cy="1234440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1298448"/>
            <a:ext cx="324612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1,526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8247888" y="19659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 (MAR 2018)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47888" y="220370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single-month late count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6903720" cy="2331720"/>
          </a:xfrm>
          <a:prstGeom prst="roundRect">
            <a:avLst>
              <a:gd name="adj" fmla="val 2353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1" name="Image 0" descr="/mnt/user-data/uploads/Screenshot_1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743200"/>
            <a:ext cx="6720840" cy="21488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57200" y="5029200"/>
            <a:ext cx="6903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 and Average Delay by Month — bars = count, line = avg delay days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543800" y="2651760"/>
            <a:ext cx="4187952" cy="2331720"/>
          </a:xfrm>
          <a:prstGeom prst="roundRect">
            <a:avLst>
              <a:gd name="adj" fmla="val 3137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0" y="2788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Trend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772400" y="312724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 rose sharply from Nov 2017 (1,066) through Mar 2018 (1,526), while Avg Delay Days stayed in the 7-12 day band throughout — it did not spike alongside the count.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772400" y="41605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points to volume-driven strain on fulfilment capacity rather than a worsening delivery process — each late order isn't taking longer, there are simply more of them.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200" y="5394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57200" y="57150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 erode customer trust and increase support and refund costs — flagging the Jan-Mar 2018 spike gives operations a specific, bounded window to investigate rather than a vague year-round concern.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57200" y="6510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LedgerSight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7729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109728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ACCURACY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Control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 vs. Payments Received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118872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27048"/>
            <a:ext cx="214884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$16.06M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58368" y="2148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REVENUE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08960" y="141732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1417320"/>
            <a:ext cx="54864" cy="1188720"/>
          </a:xfrm>
          <a:prstGeom prst="rect">
            <a:avLst/>
          </a:prstGeom>
          <a:solidFill>
            <a:srgbClr val="2FBF9F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1527048"/>
            <a:ext cx="214884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$16.01M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310128" y="2148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PAYMENTS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10128" y="2386584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$16,008,872.12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5166360" cy="594360"/>
          </a:xfrm>
          <a:prstGeom prst="roundRect">
            <a:avLst>
              <a:gd name="adj" fmla="val 10769"/>
            </a:avLst>
          </a:prstGeom>
          <a:solidFill>
            <a:srgbClr val="141D30"/>
          </a:solidFill>
          <a:ln w="15875">
            <a:solidFill>
              <a:srgbClr val="E556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432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shortfall vs. Expected Revenue: -$55,695.36 (-0.3%)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89320" y="1051560"/>
            <a:ext cx="5742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Received by Payment Type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1417320"/>
            <a:ext cx="2788920" cy="1783080"/>
          </a:xfrm>
          <a:prstGeom prst="roundRect">
            <a:avLst>
              <a:gd name="adj" fmla="val 3077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9" name="Image 0" descr="/mnt/user-data/uploads/Screenshot_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80760" y="1508760"/>
            <a:ext cx="2606040" cy="1600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006840" y="1508760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0424160" y="1508760"/>
            <a:ext cx="1307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9006840" y="1819656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Boleto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0424160" y="1819656"/>
            <a:ext cx="1307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17.9%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006840" y="2130552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0424160" y="2130552"/>
            <a:ext cx="1307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2.4%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9006840" y="2441448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0424160" y="2441448"/>
            <a:ext cx="1307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1.4%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57200" y="3611880"/>
            <a:ext cx="11274552" cy="1417320"/>
          </a:xfrm>
          <a:prstGeom prst="roundRect">
            <a:avLst>
              <a:gd name="adj" fmla="val 3871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9" name="Image 1" descr="/mnt/user-data/uploads/Screenshot_1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3703320"/>
            <a:ext cx="11091672" cy="123444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57200" y="507492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Accuracy by Payment Type — credit_card and boleto together carry 96.2% of total payment value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457200" y="544068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85800" y="553212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Read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685800" y="5779008"/>
            <a:ext cx="10835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Payments ($16,008,872.12) run slightly below Expected Revenue ($16,064,567.48) — a $55,695 shortfall (-0.3%) — but sit above delivered-order Total Revenue ($15,744,351.79), since payments are collected across every approved-type status, not only fully delivered ones. Payment_Diff, the row-level calculated column, makes this order-by-order gap traceable.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457200" y="6510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LedgerSight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27729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109728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ANALYTICAL TASK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Forecasting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prior monthly revenue trends to project the next 3 months of sales and revenue growth.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760720" cy="1417320"/>
          </a:xfrm>
          <a:prstGeom prst="roundRect">
            <a:avLst>
              <a:gd name="adj" fmla="val 4516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5394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trend is fitted to the 24 months of Actual Revenue (Sep 2016 – Aug 2018) and extrapolated forward — the same logic as Excel's TREND / FORECAST.LINEAR function. The trend is remarkably steady: each forecast month adds a constant +$61,818 over the previous one.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Forecast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1828800" cy="1051560"/>
          </a:xfrm>
          <a:prstGeom prst="roundRect">
            <a:avLst>
              <a:gd name="adj" fmla="val 6087"/>
            </a:avLst>
          </a:prstGeom>
          <a:solidFill>
            <a:srgbClr val="141D30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78561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$1,454,993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7200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2018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23160" y="3657600"/>
            <a:ext cx="1828800" cy="1051560"/>
          </a:xfrm>
          <a:prstGeom prst="roundRect">
            <a:avLst>
              <a:gd name="adj" fmla="val 6087"/>
            </a:avLst>
          </a:prstGeom>
          <a:solidFill>
            <a:srgbClr val="141D30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378561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$1,516,811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2423160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2018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9120" y="3657600"/>
            <a:ext cx="1828800" cy="1051560"/>
          </a:xfrm>
          <a:prstGeom prst="roundRect">
            <a:avLst>
              <a:gd name="adj" fmla="val 6087"/>
            </a:avLst>
          </a:prstGeom>
          <a:solidFill>
            <a:srgbClr val="141D30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378561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$1,578,629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389120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2018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892040"/>
            <a:ext cx="5760720" cy="914400"/>
          </a:xfrm>
          <a:prstGeom prst="roundRect">
            <a:avLst>
              <a:gd name="adj" fmla="val 7000"/>
            </a:avLst>
          </a:prstGeom>
          <a:solidFill>
            <a:srgbClr val="141D30"/>
          </a:solidFill>
          <a:ln w="15875">
            <a:solidFill>
              <a:srgbClr val="2FBF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8920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+$61,818 / month — constant linear growth projected forward, consistent with the steady 2018 revenue plateau seen in Slide 10.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141732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Forecast Revenue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37960" y="1737360"/>
            <a:ext cx="5193792" cy="1874520"/>
          </a:xfrm>
          <a:prstGeom prst="roundRect">
            <a:avLst>
              <a:gd name="adj" fmla="val 2927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3" name="Image 0" descr="/mnt/user-data/uploads/1786653030420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29400" y="1828800"/>
            <a:ext cx="5010912" cy="16916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537960" y="3657600"/>
            <a:ext cx="5193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line = 24 months of actual revenue. Dotted line = 3-month linear forecast (Sep–Nov 2018).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537960" y="4160520"/>
            <a:ext cx="2880360" cy="1737360"/>
          </a:xfrm>
          <a:prstGeom prst="roundRect">
            <a:avLst>
              <a:gd name="adj" fmla="val 3158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6" name="Image 1" descr="/mnt/user-data/uploads/Screenshot_2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29400" y="4251960"/>
            <a:ext cx="2697480" cy="155448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537960" y="591616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 — Actual Revenue column feeds the trend; Forecast Revenue column holds the projection.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9555480" y="4160520"/>
            <a:ext cx="2176272" cy="1737360"/>
          </a:xfrm>
          <a:prstGeom prst="roundRect">
            <a:avLst>
              <a:gd name="adj" fmla="val 3684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710928" y="4279392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9710928" y="4553712"/>
            <a:ext cx="1874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7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business a data-backed expectation for next quarter's revenue, without waiting for the month to close — useful for planning and setting realistic monthly targets.</a:t>
            </a:r>
            <a:endParaRPr lang="en-US" sz="870" dirty="0"/>
          </a:p>
        </p:txBody>
      </p:sp>
      <p:sp>
        <p:nvSpPr>
          <p:cNvPr id="31" name="Text 27"/>
          <p:cNvSpPr/>
          <p:nvPr/>
        </p:nvSpPr>
        <p:spPr>
          <a:xfrm>
            <a:off x="457200" y="6510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LedgerSight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27729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109728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Live Dashboard —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screenshots from the LedgerSight.xlsx Dashboard sheet — nothing simulated.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KPI CARDS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1274552" cy="1051560"/>
          </a:xfrm>
          <a:prstGeom prst="roundRect">
            <a:avLst>
              <a:gd name="adj" fmla="val 5217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8" name="Image 0" descr="/mnt/user-data/uploads/Screenshot_1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783080"/>
            <a:ext cx="11091672" cy="868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761488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KPI cards, formula-linked to PivotTables — no hard-coded numbers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DATE TIMELINE FILTER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3383280"/>
            <a:ext cx="4572000" cy="1508760"/>
          </a:xfrm>
          <a:prstGeom prst="roundRect">
            <a:avLst>
              <a:gd name="adj" fmla="val 3636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2" name="Image 1" descr="/mnt/user-data/uploads/Screenshot_1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3474720"/>
            <a:ext cx="4389120" cy="1325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4919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Report-connected to all four PivotTables and PivotCharts at once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303520" y="3108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KEY INSIGHTS STRIP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303520" y="3383280"/>
            <a:ext cx="6428232" cy="1508760"/>
          </a:xfrm>
          <a:prstGeom prst="roundRect">
            <a:avLst>
              <a:gd name="adj" fmla="val 3636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6" name="Image 2" descr="/mnt/user-data/uploads/Screenshot_1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94960" y="3474720"/>
            <a:ext cx="6245352" cy="1325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03520" y="4919472"/>
            <a:ext cx="6428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callouts under the charts — findings, not just figures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57200" y="534924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85800" y="5349240"/>
            <a:ext cx="10835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card and every chart on this dashboard responds to the same Timeline and Slicers — filtering to a single month, status, or payment type updates all four PivotCharts simultaneously.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6510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LedgerSight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109728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Live Dashboard — Charts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/mnt/user-data/uploads/Screenshot_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325880"/>
            <a:ext cx="530352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326440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Revenue Overview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34564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Combo: Total &amp; Expected Revenue (columns) + % Reconciliation (line, secondary axis)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245352" y="123444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0" name="Image 1" descr="/mnt/user-data/uploads/Screenshot_1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36792" y="1325880"/>
            <a:ext cx="5303520" cy="1828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91072" y="326440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Order Status Mix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291072" y="34564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stacked column by quarter — delivered / canceled / shipped / Other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57200" y="388620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4" name="Image 2" descr="/mnt/user-data/uploads/Screenshot_1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8640" y="3977640"/>
            <a:ext cx="5303520" cy="1828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2920" y="5916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Delivery Insights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02920" y="61081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Combo: Late Delivery Count (columns) + Avg Delay Days (line, secondary axis)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6245352" y="388620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8" name="Image 3" descr="/mnt/user-data/uploads/Screenshot_12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36792" y="3977640"/>
            <a:ext cx="5303520" cy="18288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91072" y="5916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Payment Accuracy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6291072" y="61081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bar, sorted descending by total payments per payment type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457200" y="6510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LedgerSight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729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109728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from the dashboard's own Insights strip — every number traces back to a PivotTable.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3611880" cy="54864"/>
          </a:xfrm>
          <a:prstGeom prst="rect">
            <a:avLst/>
          </a:prstGeom>
          <a:solidFill>
            <a:srgbClr val="2FBF9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830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98.0%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85800" y="2651760"/>
            <a:ext cx="3154680" cy="0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07208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3026664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held ~98% throughout the two-year window, apart from Sep-Oct 2016.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4160520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85800" y="4379976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early dip coincides with the platform's launch window — very low volume, not a genuine performance dip.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88536" y="150876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88536" y="1508760"/>
            <a:ext cx="3611880" cy="54864"/>
          </a:xfrm>
          <a:prstGeom prst="rect">
            <a:avLst/>
          </a:prstGeom>
          <a:solidFill>
            <a:srgbClr val="E5566B"/>
          </a:solidFill>
          <a:ln/>
        </p:spPr>
      </p:sp>
      <p:sp>
        <p:nvSpPr>
          <p:cNvPr id="16" name="Text 14"/>
          <p:cNvSpPr/>
          <p:nvPr/>
        </p:nvSpPr>
        <p:spPr>
          <a:xfrm>
            <a:off x="4517136" y="17830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55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 / 100%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4517136" y="2651760"/>
            <a:ext cx="3154680" cy="0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17136" y="2807208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17136" y="3026664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share spikes to 50% (Q3 2016, 2 of 4 orders) and 100% (Q4 2018, 4 of 4 orders).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17136" y="4160520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17136" y="4379976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quarters have only 4 total orders, so a couple of cancellations swings the percentage — not a systemic cancellation issue across the 643 total canceled orders.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19872" y="150876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19872" y="1508760"/>
            <a:ext cx="3611880" cy="54864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24" name="Text 22"/>
          <p:cNvSpPr/>
          <p:nvPr/>
        </p:nvSpPr>
        <p:spPr>
          <a:xfrm>
            <a:off x="8348472" y="17830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06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1,526</a:t>
            </a:r>
            <a:endParaRPr lang="en-US" sz="3400" dirty="0"/>
          </a:p>
        </p:txBody>
      </p:sp>
      <p:sp>
        <p:nvSpPr>
          <p:cNvPr id="25" name="Shape 23"/>
          <p:cNvSpPr/>
          <p:nvPr/>
        </p:nvSpPr>
        <p:spPr>
          <a:xfrm>
            <a:off x="8348472" y="2651760"/>
            <a:ext cx="3154680" cy="0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48472" y="2807208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348472" y="3026664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 rose sharply in Jan-Mar 2018, peaking at 1,526 in March.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48472" y="4160520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348472" y="4379976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 Days stayed stable (~9-10 days) across the same months — likely volume-driven, worth investigating fulfilment capacity.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LedgerSight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109728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74552" cy="914400"/>
          </a:xfrm>
          <a:prstGeom prst="roundRect">
            <a:avLst>
              <a:gd name="adj" fmla="val 7000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64008" cy="9144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344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4640" y="123444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remaining ~2% / $320K gap between Expected and Total Revenue — trace which approved-type orders never convert to "delivered", and why.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67712"/>
            <a:ext cx="11274552" cy="914400"/>
          </a:xfrm>
          <a:prstGeom prst="roundRect">
            <a:avLst>
              <a:gd name="adj" fmla="val 7000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67712"/>
            <a:ext cx="64008" cy="914400"/>
          </a:xfrm>
          <a:prstGeom prst="rect">
            <a:avLst/>
          </a:prstGeom>
          <a:solidFill>
            <a:srgbClr val="E5566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6771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34640" y="2267712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Jan-Mar 2018 late-delivery spike (1,057-1,526 orders/month) for capacity or logistics causes, even though average delay per order held steady.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00984"/>
            <a:ext cx="11274552" cy="914400"/>
          </a:xfrm>
          <a:prstGeom prst="roundRect">
            <a:avLst>
              <a:gd name="adj" fmla="val 7000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300984"/>
            <a:ext cx="64008" cy="914400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00984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834640" y="3300984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cancellation share by month, not just by count — the Q3 2016 / Q4 2018 spikes are low-volume artifacts, not a rising cancellation rate.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334256"/>
            <a:ext cx="11274552" cy="914400"/>
          </a:xfrm>
          <a:prstGeom prst="roundRect">
            <a:avLst>
              <a:gd name="adj" fmla="val 7000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334256"/>
            <a:ext cx="64008" cy="914400"/>
          </a:xfrm>
          <a:prstGeom prst="rect">
            <a:avLst/>
          </a:prstGeom>
          <a:solidFill>
            <a:srgbClr val="2FBF9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334256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834640" y="4334256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Boleto and credit_card together represent 96.2% of payment value ($15.41M of $16.01M) — prioritize reconciliation checks on these two payment types first.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367528"/>
            <a:ext cx="11274552" cy="914400"/>
          </a:xfrm>
          <a:prstGeom prst="roundRect">
            <a:avLst>
              <a:gd name="adj" fmla="val 7000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5367528"/>
            <a:ext cx="64008" cy="914400"/>
          </a:xfrm>
          <a:prstGeom prst="rect">
            <a:avLst/>
          </a:prstGeom>
          <a:solidFill>
            <a:srgbClr val="9FB0C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367528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834640" y="5367528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this workbook as a recurring monthly-close tool: refresh the queries, re-verify % Reconciliation, and re-run the 3-click filter demo each period.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LedgerSight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109728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QUESTIONING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Defensibility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37260" y="1668780"/>
            <a:ext cx="10287000" cy="0"/>
          </a:xfrm>
          <a:prstGeom prst="line">
            <a:avLst/>
          </a:prstGeom>
          <a:noFill/>
          <a:ln w="25400">
            <a:solidFill>
              <a:srgbClr val="263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777240" cy="777240"/>
          </a:xfrm>
          <a:prstGeom prst="ellipse">
            <a:avLst/>
          </a:prstGeom>
          <a:solidFill>
            <a:srgbClr val="141D30"/>
          </a:solidFill>
          <a:ln w="22225">
            <a:solidFill>
              <a:srgbClr val="E06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112264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777240" cy="777240"/>
          </a:xfrm>
          <a:prstGeom prst="ellipse">
            <a:avLst/>
          </a:prstGeom>
          <a:solidFill>
            <a:srgbClr val="141D30"/>
          </a:solidFill>
          <a:ln w="22225">
            <a:solidFill>
              <a:srgbClr val="E06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2112264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777240" cy="777240"/>
          </a:xfrm>
          <a:prstGeom prst="ellipse">
            <a:avLst/>
          </a:prstGeom>
          <a:solidFill>
            <a:srgbClr val="141D30"/>
          </a:solidFill>
          <a:ln w="22225">
            <a:solidFill>
              <a:srgbClr val="E06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112264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Pivot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20840" y="1280160"/>
            <a:ext cx="777240" cy="777240"/>
          </a:xfrm>
          <a:prstGeom prst="ellipse">
            <a:avLst/>
          </a:prstGeom>
          <a:solidFill>
            <a:srgbClr val="141D30"/>
          </a:solidFill>
          <a:ln w="22225">
            <a:solidFill>
              <a:srgbClr val="E06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112264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778240" y="1280160"/>
            <a:ext cx="777240" cy="777240"/>
          </a:xfrm>
          <a:prstGeom prst="ellipse">
            <a:avLst/>
          </a:prstGeom>
          <a:solidFill>
            <a:srgbClr val="141D30"/>
          </a:solidFill>
          <a:ln w="22225">
            <a:solidFill>
              <a:srgbClr val="E06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112264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PivotTables /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PivotCharts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835640" y="1280160"/>
            <a:ext cx="777240" cy="777240"/>
          </a:xfrm>
          <a:prstGeom prst="ellipse">
            <a:avLst/>
          </a:prstGeom>
          <a:solidFill>
            <a:srgbClr val="141D30"/>
          </a:solidFill>
          <a:ln w="22225">
            <a:solidFill>
              <a:srgbClr val="2FBF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61320" y="2112264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2743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Checks Actually Performed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5532120" cy="2651760"/>
          </a:xfrm>
          <a:prstGeom prst="roundRect">
            <a:avLst>
              <a:gd name="adj" fmla="val 2414"/>
            </a:avLst>
          </a:prstGeom>
          <a:solidFill>
            <a:srgbClr val="141D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246120"/>
            <a:ext cx="51206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0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 held at 101,687 through both Left Outer Joins — verified in the query preview after each merge</a:t>
            </a:r>
            <a:endParaRPr lang="en-US" sz="10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0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card is cell-linked to a PivotTable / DAX measure — zero hard-coded values on the Dashboard sheet</a:t>
            </a:r>
            <a:endParaRPr lang="en-US" sz="10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0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and both Slicers connected via Report Connections to all four PivotTables simultaneously</a:t>
            </a:r>
            <a:endParaRPr lang="en-US" sz="10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0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Refresh All re-run after file close/reopen to confirm the model rebuilds identically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0" y="2743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Judge Questions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3063240"/>
            <a:ext cx="5513832" cy="1298448"/>
          </a:xfrm>
          <a:prstGeom prst="roundRect">
            <a:avLst>
              <a:gd name="adj" fmla="val 4930"/>
            </a:avLst>
          </a:prstGeom>
          <a:solidFill>
            <a:srgbClr val="141D30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1546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does % Reconciliation dip in a given month?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0" y="3593592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It's driven by the Expected Revenue denominator (all approved-type statuses) vs. the Total Revenue numerator (delivered only) — a low-volume month exaggerates the ratio.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4480560"/>
            <a:ext cx="5513832" cy="1298448"/>
          </a:xfrm>
          <a:prstGeom prst="roundRect">
            <a:avLst>
              <a:gd name="adj" fmla="val 4930"/>
            </a:avLst>
          </a:prstGeom>
          <a:solidFill>
            <a:srgbClr val="141D30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5720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did you define "Approved Orders"?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0" y="5010912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Expected Revenue = delivered + shipped + invoiced + processing + approved — every status past initial order creation, per the DAX measure.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LedgerSight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74352" y="2264529"/>
            <a:ext cx="256032" cy="109728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1533009"/>
            <a:ext cx="256032" cy="182880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4" name="Shape 2"/>
          <p:cNvSpPr/>
          <p:nvPr/>
        </p:nvSpPr>
        <p:spPr>
          <a:xfrm>
            <a:off x="10442448" y="1990209"/>
            <a:ext cx="256032" cy="137160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5" name="Shape 3"/>
          <p:cNvSpPr/>
          <p:nvPr/>
        </p:nvSpPr>
        <p:spPr>
          <a:xfrm>
            <a:off x="10826496" y="984369"/>
            <a:ext cx="256032" cy="237744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6" name="Shape 4"/>
          <p:cNvSpPr/>
          <p:nvPr/>
        </p:nvSpPr>
        <p:spPr>
          <a:xfrm>
            <a:off x="11210544" y="1715889"/>
            <a:ext cx="256032" cy="164592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7" name="Shape 5"/>
          <p:cNvSpPr/>
          <p:nvPr/>
        </p:nvSpPr>
        <p:spPr>
          <a:xfrm>
            <a:off x="11594592" y="527169"/>
            <a:ext cx="256032" cy="2834640"/>
          </a:xfrm>
          <a:prstGeom prst="rect">
            <a:avLst/>
          </a:prstGeom>
          <a:solidFill>
            <a:srgbClr val="E0692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TAKEAWAY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transactions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measurable business control.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822960" y="39319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41D30"/>
          </a:solidFill>
          <a:ln w="19050">
            <a:solidFill>
              <a:srgbClr val="2FBF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9651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2960" y="48280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0" y="39319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41D30"/>
          </a:solidFill>
          <a:ln w="19050">
            <a:solidFill>
              <a:srgbClr val="E06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409651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101,687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389120" y="48280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PROCESSED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55280" y="39319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41D30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409651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$15.74M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955280" y="48280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CONTROLLED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7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LedgerSight  ·  Built entirely in Excel — Power Query, Power Pivot, DAX, PivotTables &amp; PivotCharts. No external tools.</a:t>
            </a:r>
            <a:endParaRPr lang="en-US" sz="105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FEC46F5B-82EB-4642-A44B-59DBE84F5044}"/>
              </a:ext>
            </a:extLst>
          </p:cNvPr>
          <p:cNvSpPr/>
          <p:nvPr/>
        </p:nvSpPr>
        <p:spPr>
          <a:xfrm>
            <a:off x="9637776" y="3361809"/>
            <a:ext cx="2377440" cy="0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2814</Words>
  <Application>Microsoft Office PowerPoint</Application>
  <PresentationFormat>Widescreen</PresentationFormat>
  <Paragraphs>411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 aqsa</cp:lastModifiedBy>
  <cp:revision>2</cp:revision>
  <dcterms:created xsi:type="dcterms:W3CDTF">2026-08-13T20:32:39Z</dcterms:created>
  <dcterms:modified xsi:type="dcterms:W3CDTF">2026-08-13T20:40:57Z</dcterms:modified>
</cp:coreProperties>
</file>